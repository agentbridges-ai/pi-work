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png" ContentType="image/png"/>
  <Default Extension="rels" ContentType="application/vnd.openxmlformats-package.relationships+xml"/>
  <Default Extension="jpeg" ContentType="image/jpeg"/>
  <Default Extension="bin" ContentType="application/vnd.openxmlformats-officedocument.oleObject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notesSlides/notesSlide6.xml" ContentType="application/vnd.openxmlformats-officedocument.presentationml.notesSlide+xml"/>
  <Override PartName="/docProps/app.xml" ContentType="application/vnd.openxmlformats-officedocument.extended-properties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季度营收</c:v>
                </c:pt>
              </c:strCache>
            </c:strRef>
          </c:tx>
          <c:spPr bwMode="auto">
            <a:prstGeom prst="rect">
              <a:avLst/>
            </a:prstGeom>
            <a:solidFill>
              <a:srgbClr val="1E2761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480</c:v>
                </c:pt>
                <c:pt idx="2">
                  <c:v>560</c:v>
                </c:pt>
                <c:pt idx="3">
                  <c:v>720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200" b="0" i="0" u="none" strike="noStrike">
                  <a:solidFill>
                    <a:srgbClr val="1A1A2E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457200" y="1463040"/>
      <a:ext cx="4754880" cy="3291840"/>
    </a:xfrm>
    <a:prstGeom prst="rect">
      <a:avLst/>
    </a:prstGeom>
    <a:solidFill>
      <a:srgbClr val="F5F7FA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8991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876600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1080861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555853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15996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003939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676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78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1513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360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9139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0484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005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17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14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933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4881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895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111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3616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7003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745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6589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1295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057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162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6523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410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3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631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61B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075075" name="Shape 0"/>
          <p:cNvSpPr/>
          <p:nvPr/>
        </p:nvSpPr>
        <p:spPr bwMode="auto">
          <a:xfrm>
            <a:off x="7315200" y="457200"/>
            <a:ext cx="2286000" cy="22860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747455214" name="Shape 1"/>
          <p:cNvSpPr/>
          <p:nvPr/>
        </p:nvSpPr>
        <p:spPr bwMode="auto">
          <a:xfrm>
            <a:off x="-457200" y="3200400"/>
            <a:ext cx="1828800" cy="1828800"/>
          </a:xfrm>
          <a:prstGeom prst="ellipse">
            <a:avLst/>
          </a:prstGeom>
          <a:solidFill>
            <a:srgbClr val="2A3B7C">
              <a:alpha val="50000"/>
            </a:srgbClr>
          </a:solidFill>
          <a:ln/>
        </p:spPr>
      </p:sp>
      <p:sp>
        <p:nvSpPr>
          <p:cNvPr id="1182412632" name="Text 2"/>
          <p:cNvSpPr/>
          <p:nvPr/>
        </p:nvSpPr>
        <p:spPr bwMode="auto"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PPT 动画演示</a:t>
            </a:r>
            <a:endParaRPr lang="en-US" sz="5200"/>
          </a:p>
        </p:txBody>
      </p:sp>
      <p:sp>
        <p:nvSpPr>
          <p:cNvPr id="119358122" name="Text 3"/>
          <p:cNvSpPr/>
          <p:nvPr/>
        </p:nvSpPr>
        <p:spPr bwMode="auto"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各式各样的幻灯片动画效果展示</a:t>
            </a:r>
            <a:endParaRPr lang="en-US" sz="2200"/>
          </a:p>
        </p:txBody>
      </p:sp>
      <p:sp>
        <p:nvSpPr>
          <p:cNvPr id="1986405298" name="Shape 4"/>
          <p:cNvSpPr/>
          <p:nvPr/>
        </p:nvSpPr>
        <p:spPr bwMode="auto">
          <a:xfrm>
            <a:off x="3200400" y="3474720"/>
            <a:ext cx="2743200" cy="27432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1861284869" name="Text 5"/>
          <p:cNvSpPr/>
          <p:nvPr/>
        </p:nvSpPr>
        <p:spPr bwMode="auto"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Nexolyra  |  2026年7月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0" dur="indefinite" restart="never" nodeType="tmRoot">
          <p:childTnLst>
            <p:seq>
              <p:cTn id="11" dur="indefinite" nodeType="mainSeq">
                <p:childTnLst>
                  <p:par>
                    <p:cTn id="10" dur="1200" fill="hold">
                      <p:stCondLst>
                        <p:cond delay="200"/>
                      </p:stCondLst>
                    </p:cTn>
                  </p:par>
                  <p:par>
                    <p:cTn id="12" dur="1000" fill="hold">
                      <p:stCondLst>
                        <p:cond delay="800"/>
                      </p:stCondLst>
                    </p:cTn>
                  </p:par>
                  <p:par>
                    <p:cTn id="14" dur="800" fill="hold">
                      <p:stCondLst>
                        <p:cond delay="1000"/>
                      </p:stCondLst>
                    </p:cTn>
                  </p:par>
                  <p:par>
                    <p:cTn id="16" dur="800" fill="hold">
                      <p:stCondLst>
                        <p:cond delay="120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849765" name="Text 0"/>
          <p:cNvSpPr/>
          <p:nvPr/>
        </p:nvSpPr>
        <p:spPr bwMode="auto">
          <a:xfrm>
            <a:off x="731520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Arial Black"/>
                <a:ea typeface="Arial Black"/>
                <a:cs typeface="Arial Black"/>
              </a:rPr>
              <a:t>目 录</a:t>
            </a:r>
            <a:endParaRPr lang="en-US" sz="3200"/>
          </a:p>
        </p:txBody>
      </p:sp>
      <p:sp>
        <p:nvSpPr>
          <p:cNvPr id="1020981918" name="Shape 1"/>
          <p:cNvSpPr/>
          <p:nvPr/>
        </p:nvSpPr>
        <p:spPr bwMode="auto">
          <a:xfrm>
            <a:off x="73152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84718546" name="Text 2"/>
          <p:cNvSpPr/>
          <p:nvPr/>
        </p:nvSpPr>
        <p:spPr bwMode="auto"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  <a:endParaRPr lang="en-US" sz="1600"/>
          </a:p>
        </p:txBody>
      </p:sp>
      <p:sp>
        <p:nvSpPr>
          <p:cNvPr id="1856747996" name="Text 3"/>
          <p:cNvSpPr/>
          <p:nvPr/>
        </p:nvSpPr>
        <p:spPr bwMode="auto">
          <a:xfrm>
            <a:off x="15544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基础动画</a:t>
            </a:r>
            <a:endParaRPr lang="en-US" sz="2000"/>
          </a:p>
        </p:txBody>
      </p:sp>
      <p:sp>
        <p:nvSpPr>
          <p:cNvPr id="1772618783" name="Text 4"/>
          <p:cNvSpPr/>
          <p:nvPr/>
        </p:nvSpPr>
        <p:spPr bwMode="auto">
          <a:xfrm>
            <a:off x="15544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淡入、飞入、擦除等入门效果</a:t>
            </a:r>
            <a:endParaRPr lang="en-US" sz="1300"/>
          </a:p>
        </p:txBody>
      </p:sp>
      <p:sp>
        <p:nvSpPr>
          <p:cNvPr id="778031342" name="Shape 5"/>
          <p:cNvSpPr/>
          <p:nvPr/>
        </p:nvSpPr>
        <p:spPr bwMode="auto">
          <a:xfrm>
            <a:off x="73152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87208912" name="Text 6"/>
          <p:cNvSpPr/>
          <p:nvPr/>
        </p:nvSpPr>
        <p:spPr bwMode="auto"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  <a:endParaRPr lang="en-US" sz="1600"/>
          </a:p>
        </p:txBody>
      </p:sp>
      <p:sp>
        <p:nvSpPr>
          <p:cNvPr id="1474053592" name="Text 7"/>
          <p:cNvSpPr/>
          <p:nvPr/>
        </p:nvSpPr>
        <p:spPr bwMode="auto">
          <a:xfrm>
            <a:off x="15544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强调动画</a:t>
            </a:r>
            <a:endParaRPr lang="en-US" sz="2000"/>
          </a:p>
        </p:txBody>
      </p:sp>
      <p:sp>
        <p:nvSpPr>
          <p:cNvPr id="724416729" name="Text 8"/>
          <p:cNvSpPr/>
          <p:nvPr/>
        </p:nvSpPr>
        <p:spPr bwMode="auto">
          <a:xfrm>
            <a:off x="15544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缩放、旋转、闪烁等强调效果</a:t>
            </a:r>
            <a:endParaRPr lang="en-US" sz="1300"/>
          </a:p>
        </p:txBody>
      </p:sp>
      <p:sp>
        <p:nvSpPr>
          <p:cNvPr id="517798673" name="Shape 9"/>
          <p:cNvSpPr/>
          <p:nvPr/>
        </p:nvSpPr>
        <p:spPr bwMode="auto">
          <a:xfrm>
            <a:off x="73152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02851077" name="Text 10"/>
          <p:cNvSpPr/>
          <p:nvPr/>
        </p:nvSpPr>
        <p:spPr bwMode="auto"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  <a:endParaRPr lang="en-US" sz="1600"/>
          </a:p>
        </p:txBody>
      </p:sp>
      <p:sp>
        <p:nvSpPr>
          <p:cNvPr id="2147333744" name="Text 11"/>
          <p:cNvSpPr/>
          <p:nvPr/>
        </p:nvSpPr>
        <p:spPr bwMode="auto">
          <a:xfrm>
            <a:off x="15544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组合动画</a:t>
            </a:r>
            <a:endParaRPr lang="en-US" sz="2000"/>
          </a:p>
        </p:txBody>
      </p:sp>
      <p:sp>
        <p:nvSpPr>
          <p:cNvPr id="1823128610" name="Text 12"/>
          <p:cNvSpPr/>
          <p:nvPr/>
        </p:nvSpPr>
        <p:spPr bwMode="auto">
          <a:xfrm>
            <a:off x="15544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多元素协同动画序列</a:t>
            </a:r>
            <a:endParaRPr lang="en-US" sz="1300"/>
          </a:p>
        </p:txBody>
      </p:sp>
      <p:sp>
        <p:nvSpPr>
          <p:cNvPr id="927606585" name="Shape 13"/>
          <p:cNvSpPr/>
          <p:nvPr/>
        </p:nvSpPr>
        <p:spPr bwMode="auto">
          <a:xfrm>
            <a:off x="73152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26756416" name="Text 14"/>
          <p:cNvSpPr/>
          <p:nvPr/>
        </p:nvSpPr>
        <p:spPr bwMode="auto"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04</a:t>
            </a:r>
            <a:endParaRPr lang="en-US" sz="1600"/>
          </a:p>
        </p:txBody>
      </p:sp>
      <p:sp>
        <p:nvSpPr>
          <p:cNvPr id="937597129" name="Text 15"/>
          <p:cNvSpPr/>
          <p:nvPr/>
        </p:nvSpPr>
        <p:spPr bwMode="auto">
          <a:xfrm>
            <a:off x="15544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数据动画</a:t>
            </a:r>
            <a:endParaRPr lang="en-US" sz="2000"/>
          </a:p>
        </p:txBody>
      </p:sp>
      <p:sp>
        <p:nvSpPr>
          <p:cNvPr id="394181612" name="Text 16"/>
          <p:cNvSpPr/>
          <p:nvPr/>
        </p:nvSpPr>
        <p:spPr bwMode="auto">
          <a:xfrm>
            <a:off x="155448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图表与数据可视化动画</a:t>
            </a:r>
            <a:endParaRPr lang="en-US" sz="1300"/>
          </a:p>
        </p:txBody>
      </p:sp>
      <p:sp>
        <p:nvSpPr>
          <p:cNvPr id="728401731" name="Shape 17"/>
          <p:cNvSpPr/>
          <p:nvPr/>
        </p:nvSpPr>
        <p:spPr bwMode="auto">
          <a:xfrm>
            <a:off x="6858000" y="0"/>
            <a:ext cx="2286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02738430" name="Text 18"/>
          <p:cNvSpPr/>
          <p:nvPr/>
        </p:nvSpPr>
        <p:spPr bwMode="auto">
          <a:xfrm>
            <a:off x="7132320" y="18288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CADCFC"/>
                </a:solidFill>
                <a:latin typeface="Arial Black"/>
                <a:ea typeface="Arial Black"/>
                <a:cs typeface="Arial Black"/>
              </a:rPr>
              <a:t>ANIMATION</a:t>
            </a:r>
            <a:endParaRPr lang="en-US" sz="2000"/>
          </a:p>
          <a:p>
            <a:pPr marL="0" indent="0" algn="ctr">
              <a:buNone/>
              <a:defRPr/>
            </a:pPr>
            <a:r>
              <a:rPr lang="en-US" sz="2000">
                <a:solidFill>
                  <a:srgbClr val="CADCFC"/>
                </a:solidFill>
                <a:latin typeface="Arial Black"/>
                <a:ea typeface="Arial Black"/>
                <a:cs typeface="Arial Black"/>
              </a:rPr>
              <a:t>SHOWCASE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push dir="u"/>
      </p:transition>
    </mc:Choice>
    <mc:Fallback>
      <p:transition spd="med" advClick="1">
        <p:push dir="u"/>
      </p:transition>
    </mc:Fallback>
  </mc:AlternateContent>
  <p:timing>
    <p:tnLst>
      <p:par>
        <p:cTn id="110" dur="indefinite" restart="never" nodeType="tmRoot">
          <p:childTnLst>
            <p:seq>
              <p:cTn id="111" dur="indefinite" nodeType="mainSeq">
                <p:childTnLst>
                  <p:par>
                    <p:cTn id="110" dur="600" fill="hold">
                      <p:stCondLst>
                        <p:cond delay="200"/>
                      </p:stCondLst>
                    </p:cTn>
                  </p:par>
                  <p:par>
                    <p:cTn id="111" dur="600" fill="hold">
                      <p:stCondLst>
                        <p:cond delay="450"/>
                      </p:stCondLst>
                    </p:cTn>
                  </p:par>
                  <p:par>
                    <p:cTn id="112" dur="600" fill="hold">
                      <p:stCondLst>
                        <p:cond delay="700"/>
                      </p:stCondLst>
                    </p:cTn>
                  </p:par>
                  <p:par>
                    <p:cTn id="113" dur="600" fill="hold">
                      <p:stCondLst>
                        <p:cond delay="950"/>
                      </p:stCondLst>
                    </p:cTn>
                  </p:par>
                  <p:par>
                    <p:cTn id="114" dur="600" fill="hold">
                      <p:stCondLst>
                        <p:cond delay="1200"/>
                      </p:stCondLst>
                    </p:cTn>
                  </p:par>
                  <p:par>
                    <p:cTn id="115" dur="600" fill="hold">
                      <p:stCondLst>
                        <p:cond delay="1450"/>
                      </p:stCondLst>
                    </p:cTn>
                  </p:par>
                  <p:par>
                    <p:cTn id="116" dur="600" fill="hold">
                      <p:stCondLst>
                        <p:cond delay="1700"/>
                      </p:stCondLst>
                    </p:cTn>
                  </p:par>
                  <p:par>
                    <p:cTn id="117" dur="600" fill="hold">
                      <p:stCondLst>
                        <p:cond delay="1950"/>
                      </p:stCondLst>
                    </p:cTn>
                  </p:par>
                  <p:par>
                    <p:cTn id="118" dur="600" fill="hold">
                      <p:stCondLst>
                        <p:cond delay="2200"/>
                      </p:stCondLst>
                    </p:cTn>
                  </p:par>
                  <p:par>
                    <p:cTn id="119" dur="600" fill="hold">
                      <p:stCondLst>
                        <p:cond delay="2450"/>
                      </p:stCondLst>
                    </p:cTn>
                  </p:par>
                  <p:par>
                    <p:cTn id="120" dur="600" fill="hold">
                      <p:stCondLst>
                        <p:cond delay="2700"/>
                      </p:stCondLst>
                    </p:cTn>
                  </p:par>
                  <p:par>
                    <p:cTn id="121" dur="600" fill="hold">
                      <p:stCondLst>
                        <p:cond delay="295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590557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15434453" name="Text 1"/>
          <p:cNvSpPr/>
          <p:nvPr/>
        </p:nvSpPr>
        <p:spPr bwMode="auto"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Arial Black"/>
                <a:ea typeface="Arial Black"/>
                <a:cs typeface="Arial Black"/>
              </a:rPr>
              <a:t>进入动画</a:t>
            </a:r>
            <a:endParaRPr lang="en-US" sz="3200"/>
          </a:p>
        </p:txBody>
      </p:sp>
      <p:sp>
        <p:nvSpPr>
          <p:cNvPr id="1103213936" name="Text 2"/>
          <p:cNvSpPr/>
          <p:nvPr/>
        </p:nvSpPr>
        <p:spPr bwMode="auto"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元素以各种方式进入画面的效果</a:t>
            </a:r>
            <a:endParaRPr lang="en-US" sz="1400"/>
          </a:p>
        </p:txBody>
      </p:sp>
      <p:sp>
        <p:nvSpPr>
          <p:cNvPr id="916087758" name="Shape 3"/>
          <p:cNvSpPr/>
          <p:nvPr/>
        </p:nvSpPr>
        <p:spPr bwMode="auto">
          <a:xfrm>
            <a:off x="731520" y="1645920"/>
            <a:ext cx="1645920" cy="256032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44976733" name="Shape 4"/>
          <p:cNvSpPr/>
          <p:nvPr/>
        </p:nvSpPr>
        <p:spPr bwMode="auto">
          <a:xfrm>
            <a:off x="731520" y="1645920"/>
            <a:ext cx="1645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66916152" name="Shape 5"/>
          <p:cNvSpPr/>
          <p:nvPr/>
        </p:nvSpPr>
        <p:spPr bwMode="auto">
          <a:xfrm>
            <a:off x="1188720" y="1920240"/>
            <a:ext cx="731520" cy="73152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774067770" name="Text 6"/>
          <p:cNvSpPr/>
          <p:nvPr/>
        </p:nvSpPr>
        <p:spPr bwMode="auto">
          <a:xfrm>
            <a:off x="11887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1C7293"/>
                </a:solidFill>
                <a:latin typeface="Arial"/>
                <a:ea typeface="Arial"/>
                <a:cs typeface="Arial"/>
              </a:rPr>
              <a:t>→</a:t>
            </a:r>
            <a:endParaRPr lang="en-US" sz="2800"/>
          </a:p>
        </p:txBody>
      </p:sp>
      <p:sp>
        <p:nvSpPr>
          <p:cNvPr id="1104841875" name="Text 7"/>
          <p:cNvSpPr/>
          <p:nvPr/>
        </p:nvSpPr>
        <p:spPr bwMode="auto">
          <a:xfrm>
            <a:off x="86868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淡 入</a:t>
            </a:r>
            <a:endParaRPr lang="en-US" sz="1800"/>
          </a:p>
        </p:txBody>
      </p:sp>
      <p:sp>
        <p:nvSpPr>
          <p:cNvPr id="1672311065" name="Text 8"/>
          <p:cNvSpPr/>
          <p:nvPr/>
        </p:nvSpPr>
        <p:spPr bwMode="auto">
          <a:xfrm>
            <a:off x="86868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页面元素透明渐显</a:t>
            </a:r>
            <a:endParaRPr lang="en-US" sz="1100"/>
          </a:p>
        </p:txBody>
      </p:sp>
      <p:sp>
        <p:nvSpPr>
          <p:cNvPr id="351900050" name="Shape 9"/>
          <p:cNvSpPr/>
          <p:nvPr/>
        </p:nvSpPr>
        <p:spPr bwMode="auto">
          <a:xfrm>
            <a:off x="2743200" y="1645920"/>
            <a:ext cx="1645920" cy="256032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81884411" name="Shape 10"/>
          <p:cNvSpPr/>
          <p:nvPr/>
        </p:nvSpPr>
        <p:spPr bwMode="auto">
          <a:xfrm>
            <a:off x="2743200" y="1645920"/>
            <a:ext cx="1645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0549034" name="Shape 11"/>
          <p:cNvSpPr/>
          <p:nvPr/>
        </p:nvSpPr>
        <p:spPr bwMode="auto">
          <a:xfrm>
            <a:off x="3200400" y="1920240"/>
            <a:ext cx="731520" cy="73152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1823710043" name="Text 12"/>
          <p:cNvSpPr/>
          <p:nvPr/>
        </p:nvSpPr>
        <p:spPr bwMode="auto">
          <a:xfrm>
            <a:off x="32004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F96167"/>
                </a:solidFill>
                <a:latin typeface="Arial"/>
                <a:ea typeface="Arial"/>
                <a:cs typeface="Arial"/>
              </a:rPr>
              <a:t>↓</a:t>
            </a:r>
            <a:endParaRPr lang="en-US" sz="2800"/>
          </a:p>
        </p:txBody>
      </p:sp>
      <p:sp>
        <p:nvSpPr>
          <p:cNvPr id="1772788812" name="Text 13"/>
          <p:cNvSpPr/>
          <p:nvPr/>
        </p:nvSpPr>
        <p:spPr bwMode="auto">
          <a:xfrm>
            <a:off x="288036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飞 入</a:t>
            </a:r>
            <a:endParaRPr lang="en-US" sz="1800"/>
          </a:p>
        </p:txBody>
      </p:sp>
      <p:sp>
        <p:nvSpPr>
          <p:cNvPr id="484388113" name="Text 14"/>
          <p:cNvSpPr/>
          <p:nvPr/>
        </p:nvSpPr>
        <p:spPr bwMode="auto">
          <a:xfrm>
            <a:off x="288036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从左侧滑动进入</a:t>
            </a:r>
            <a:endParaRPr lang="en-US" sz="1100"/>
          </a:p>
        </p:txBody>
      </p:sp>
      <p:sp>
        <p:nvSpPr>
          <p:cNvPr id="2041015786" name="Shape 15"/>
          <p:cNvSpPr/>
          <p:nvPr/>
        </p:nvSpPr>
        <p:spPr bwMode="auto">
          <a:xfrm>
            <a:off x="4754880" y="1645920"/>
            <a:ext cx="1645920" cy="256032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80152600" name="Shape 16"/>
          <p:cNvSpPr/>
          <p:nvPr/>
        </p:nvSpPr>
        <p:spPr bwMode="auto">
          <a:xfrm>
            <a:off x="4754880" y="1645920"/>
            <a:ext cx="1645920" cy="54864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721867826" name="Shape 17"/>
          <p:cNvSpPr/>
          <p:nvPr/>
        </p:nvSpPr>
        <p:spPr bwMode="auto">
          <a:xfrm>
            <a:off x="5212080" y="1920240"/>
            <a:ext cx="731520" cy="731520"/>
          </a:xfrm>
          <a:prstGeom prst="ellipse">
            <a:avLst/>
          </a:prstGeom>
          <a:solidFill>
            <a:srgbClr val="84B59F">
              <a:alpha val="15000"/>
            </a:srgbClr>
          </a:solidFill>
          <a:ln/>
        </p:spPr>
      </p:sp>
      <p:sp>
        <p:nvSpPr>
          <p:cNvPr id="1363772677" name="Text 18"/>
          <p:cNvSpPr/>
          <p:nvPr/>
        </p:nvSpPr>
        <p:spPr bwMode="auto">
          <a:xfrm>
            <a:off x="52120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0" i="0" u="none" strike="noStrike" cap="none" spc="0">
                <a:solidFill>
                  <a:srgbClr val="84B59F"/>
                </a:solidFill>
                <a:latin typeface="Arial"/>
                <a:ea typeface="Arial"/>
                <a:cs typeface="Arial"/>
              </a:rPr>
              <a:t>↔</a:t>
            </a:r>
            <a:endParaRPr lang="en-US" sz="2800"/>
          </a:p>
        </p:txBody>
      </p:sp>
      <p:sp>
        <p:nvSpPr>
          <p:cNvPr id="711242045" name="Text 19"/>
          <p:cNvSpPr/>
          <p:nvPr/>
        </p:nvSpPr>
        <p:spPr bwMode="auto">
          <a:xfrm>
            <a:off x="4892039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缩 放</a:t>
            </a:r>
            <a:endParaRPr lang="en-US" sz="1800"/>
          </a:p>
        </p:txBody>
      </p:sp>
      <p:sp>
        <p:nvSpPr>
          <p:cNvPr id="755051570" name="Text 20"/>
          <p:cNvSpPr/>
          <p:nvPr/>
        </p:nvSpPr>
        <p:spPr bwMode="auto">
          <a:xfrm>
            <a:off x="4892039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从中心由小变大</a:t>
            </a:r>
            <a:endParaRPr lang="en-US" sz="1100"/>
          </a:p>
        </p:txBody>
      </p:sp>
      <p:sp>
        <p:nvSpPr>
          <p:cNvPr id="1537256819" name="Shape 21"/>
          <p:cNvSpPr/>
          <p:nvPr/>
        </p:nvSpPr>
        <p:spPr bwMode="auto">
          <a:xfrm>
            <a:off x="6766560" y="1645920"/>
            <a:ext cx="1645920" cy="256032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859605341" name="Shape 22"/>
          <p:cNvSpPr/>
          <p:nvPr/>
        </p:nvSpPr>
        <p:spPr bwMode="auto">
          <a:xfrm>
            <a:off x="6766560" y="1645920"/>
            <a:ext cx="1645920" cy="54864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443758995" name="Shape 23"/>
          <p:cNvSpPr/>
          <p:nvPr/>
        </p:nvSpPr>
        <p:spPr bwMode="auto">
          <a:xfrm>
            <a:off x="7223760" y="1920240"/>
            <a:ext cx="731520" cy="731520"/>
          </a:xfrm>
          <a:prstGeom prst="ellipse">
            <a:avLst/>
          </a:prstGeom>
          <a:solidFill>
            <a:srgbClr val="F9A826">
              <a:alpha val="15000"/>
            </a:srgbClr>
          </a:solidFill>
          <a:ln/>
        </p:spPr>
      </p:sp>
      <p:sp>
        <p:nvSpPr>
          <p:cNvPr id="1899130517" name="Text 24"/>
          <p:cNvSpPr/>
          <p:nvPr/>
        </p:nvSpPr>
        <p:spPr bwMode="auto">
          <a:xfrm>
            <a:off x="72237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F9A826"/>
                </a:solidFill>
                <a:latin typeface="Arial"/>
                <a:ea typeface="Arial"/>
                <a:cs typeface="Arial"/>
              </a:rPr>
              <a:t>≡</a:t>
            </a:r>
            <a:endParaRPr lang="en-US" sz="2800"/>
          </a:p>
        </p:txBody>
      </p:sp>
      <p:sp>
        <p:nvSpPr>
          <p:cNvPr id="1825649616" name="Text 25"/>
          <p:cNvSpPr/>
          <p:nvPr/>
        </p:nvSpPr>
        <p:spPr bwMode="auto">
          <a:xfrm>
            <a:off x="69037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擦 除</a:t>
            </a:r>
            <a:endParaRPr lang="en-US" sz="1800"/>
          </a:p>
        </p:txBody>
      </p:sp>
      <p:sp>
        <p:nvSpPr>
          <p:cNvPr id="396989886" name="Text 26"/>
          <p:cNvSpPr/>
          <p:nvPr/>
        </p:nvSpPr>
        <p:spPr bwMode="auto">
          <a:xfrm>
            <a:off x="690372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像幕布一样揭开</a:t>
            </a:r>
            <a:endParaRPr lang="en-US" sz="1100"/>
          </a:p>
        </p:txBody>
      </p:sp>
      <p:sp>
        <p:nvSpPr>
          <p:cNvPr id="552536198" name=""/>
          <p:cNvSpPr txBox="1"/>
          <p:nvPr/>
        </p:nvSpPr>
        <p:spPr bwMode="auto">
          <a:xfrm rot="0" flipH="0" flipV="0">
            <a:off x="5446013" y="2291148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wipe dir="l"/>
      </p:transition>
    </mc:Choice>
    <mc:Fallback>
      <p:transition spd="med" advClick="1">
        <p:wipe dir="l"/>
      </p:transition>
    </mc:Fallback>
  </mc:AlternateContent>
  <p:timing>
    <p:tnLst>
      <p:par>
        <p:cTn id="210" dur="indefinite" restart="never" nodeType="tmRoot">
          <p:childTnLst>
            <p:seq>
              <p:cTn id="211" dur="indefinite" nodeType="mainSeq">
                <p:childTnLst>
                  <p:par>
                    <p:cTn id="210" dur="700" fill="hold">
                      <p:stCondLst>
                        <p:cond delay="150"/>
                      </p:stCondLst>
                    </p:cTn>
                  </p:par>
                  <p:par>
                    <p:cTn id="212" dur="700" fill="hold">
                      <p:stCondLst>
                        <p:cond delay="230"/>
                      </p:stCondLst>
                    </p:cTn>
                  </p:par>
                  <p:par>
                    <p:cTn id="214" dur="700" fill="hold">
                      <p:stCondLst>
                        <p:cond delay="310"/>
                      </p:stCondLst>
                    </p:cTn>
                  </p:par>
                  <p:par>
                    <p:cTn id="216" dur="700" fill="hold">
                      <p:stCondLst>
                        <p:cond delay="390"/>
                      </p:stCondLst>
                    </p:cTn>
                  </p:par>
                  <p:par>
                    <p:cTn id="218" dur="700" fill="hold">
                      <p:stCondLst>
                        <p:cond delay="450"/>
                      </p:stCondLst>
                    </p:cTn>
                  </p:par>
                  <p:par>
                    <p:cTn id="220" dur="700" fill="hold">
                      <p:stCondLst>
                        <p:cond delay="530"/>
                      </p:stCondLst>
                    </p:cTn>
                  </p:par>
                  <p:par>
                    <p:cTn id="222" dur="700" fill="hold">
                      <p:stCondLst>
                        <p:cond delay="610"/>
                      </p:stCondLst>
                    </p:cTn>
                  </p:par>
                  <p:par>
                    <p:cTn id="224" dur="700" fill="hold">
                      <p:stCondLst>
                        <p:cond delay="690"/>
                      </p:stCondLst>
                    </p:cTn>
                  </p:par>
                  <p:par>
                    <p:cTn id="226" dur="700" fill="hold">
                      <p:stCondLst>
                        <p:cond delay="750"/>
                      </p:stCondLst>
                    </p:cTn>
                  </p:par>
                  <p:par>
                    <p:cTn id="228" dur="700" fill="hold">
                      <p:stCondLst>
                        <p:cond delay="830"/>
                      </p:stCondLst>
                    </p:cTn>
                  </p:par>
                  <p:par>
                    <p:cTn id="230" dur="700" fill="hold">
                      <p:stCondLst>
                        <p:cond delay="910"/>
                      </p:stCondLst>
                    </p:cTn>
                  </p:par>
                  <p:par>
                    <p:cTn id="232" dur="700" fill="hold">
                      <p:stCondLst>
                        <p:cond delay="990"/>
                      </p:stCondLst>
                    </p:cTn>
                  </p:par>
                  <p:par>
                    <p:cTn id="234" dur="700" fill="hold">
                      <p:stCondLst>
                        <p:cond delay="1050"/>
                      </p:stCondLst>
                    </p:cTn>
                  </p:par>
                  <p:par>
                    <p:cTn id="236" dur="700" fill="hold">
                      <p:stCondLst>
                        <p:cond delay="1130"/>
                      </p:stCondLst>
                    </p:cTn>
                  </p:par>
                  <p:par>
                    <p:cTn id="238" dur="700" fill="hold">
                      <p:stCondLst>
                        <p:cond delay="1210"/>
                      </p:stCondLst>
                    </p:cTn>
                  </p:par>
                  <p:par>
                    <p:cTn id="240" dur="700" fill="hold">
                      <p:stCondLst>
                        <p:cond delay="129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61B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114231" name="Text 0"/>
          <p:cNvSpPr/>
          <p:nvPr/>
        </p:nvSpPr>
        <p:spPr bwMode="auto"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强调动画</a:t>
            </a:r>
            <a:endParaRPr lang="en-US" sz="3200"/>
          </a:p>
        </p:txBody>
      </p:sp>
      <p:sp>
        <p:nvSpPr>
          <p:cNvPr id="1341020118" name="Text 1"/>
          <p:cNvSpPr/>
          <p:nvPr/>
        </p:nvSpPr>
        <p:spPr bwMode="auto"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在元素当前位置上施加视觉效果</a:t>
            </a:r>
            <a:endParaRPr lang="en-US" sz="1400"/>
          </a:p>
        </p:txBody>
      </p:sp>
      <p:sp>
        <p:nvSpPr>
          <p:cNvPr id="990422220" name="Shape 2"/>
          <p:cNvSpPr/>
          <p:nvPr/>
        </p:nvSpPr>
        <p:spPr bwMode="auto">
          <a:xfrm>
            <a:off x="731520" y="1645920"/>
            <a:ext cx="1645920" cy="2560320"/>
          </a:xfrm>
          <a:prstGeom prst="rect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99925277" name="Shape 3"/>
          <p:cNvSpPr/>
          <p:nvPr/>
        </p:nvSpPr>
        <p:spPr bwMode="auto">
          <a:xfrm>
            <a:off x="1143000" y="1920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05422331" name="Text 4"/>
          <p:cNvSpPr/>
          <p:nvPr/>
        </p:nvSpPr>
        <p:spPr bwMode="auto">
          <a:xfrm>
            <a:off x="11430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FFFFFF"/>
                </a:solidFill>
              </a:rPr>
              <a:t>↻</a:t>
            </a:r>
            <a:endParaRPr lang="en-US" sz="3000"/>
          </a:p>
        </p:txBody>
      </p:sp>
      <p:sp>
        <p:nvSpPr>
          <p:cNvPr id="1316430746" name="Text 5"/>
          <p:cNvSpPr/>
          <p:nvPr/>
        </p:nvSpPr>
        <p:spPr bwMode="auto">
          <a:xfrm>
            <a:off x="868680" y="301751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旋 转</a:t>
            </a:r>
            <a:endParaRPr lang="en-US" sz="1800"/>
          </a:p>
        </p:txBody>
      </p:sp>
      <p:sp>
        <p:nvSpPr>
          <p:cNvPr id="311736637" name="Text 6"/>
          <p:cNvSpPr/>
          <p:nvPr/>
        </p:nvSpPr>
        <p:spPr bwMode="auto">
          <a:xfrm>
            <a:off x="86868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元素360°旋转一周</a:t>
            </a:r>
            <a:endParaRPr lang="en-US" sz="1100"/>
          </a:p>
        </p:txBody>
      </p:sp>
      <p:sp>
        <p:nvSpPr>
          <p:cNvPr id="1982652465" name="Shape 7"/>
          <p:cNvSpPr/>
          <p:nvPr/>
        </p:nvSpPr>
        <p:spPr bwMode="auto">
          <a:xfrm>
            <a:off x="2743200" y="1645920"/>
            <a:ext cx="1645920" cy="2560320"/>
          </a:xfrm>
          <a:prstGeom prst="rect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7974614" name="Shape 8"/>
          <p:cNvSpPr/>
          <p:nvPr/>
        </p:nvSpPr>
        <p:spPr bwMode="auto">
          <a:xfrm>
            <a:off x="3154680" y="19202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75467029" name="Text 9"/>
          <p:cNvSpPr/>
          <p:nvPr/>
        </p:nvSpPr>
        <p:spPr bwMode="auto">
          <a:xfrm>
            <a:off x="31546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FFFFFF"/>
                </a:solidFill>
              </a:rPr>
              <a:t>◉</a:t>
            </a:r>
            <a:endParaRPr lang="en-US" sz="3000"/>
          </a:p>
        </p:txBody>
      </p:sp>
      <p:sp>
        <p:nvSpPr>
          <p:cNvPr id="1472905761" name="Text 10"/>
          <p:cNvSpPr/>
          <p:nvPr/>
        </p:nvSpPr>
        <p:spPr bwMode="auto">
          <a:xfrm>
            <a:off x="2880360" y="301751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脉 冲</a:t>
            </a:r>
            <a:endParaRPr lang="en-US" sz="1800"/>
          </a:p>
        </p:txBody>
      </p:sp>
      <p:sp>
        <p:nvSpPr>
          <p:cNvPr id="1521580074" name="Text 11"/>
          <p:cNvSpPr/>
          <p:nvPr/>
        </p:nvSpPr>
        <p:spPr bwMode="auto">
          <a:xfrm>
            <a:off x="288036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大小交替变化效果</a:t>
            </a:r>
            <a:endParaRPr lang="en-US" sz="1100"/>
          </a:p>
        </p:txBody>
      </p:sp>
      <p:sp>
        <p:nvSpPr>
          <p:cNvPr id="1986891436" name="Shape 12"/>
          <p:cNvSpPr/>
          <p:nvPr/>
        </p:nvSpPr>
        <p:spPr bwMode="auto">
          <a:xfrm>
            <a:off x="4754880" y="1645920"/>
            <a:ext cx="1645920" cy="2560320"/>
          </a:xfrm>
          <a:prstGeom prst="rect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1465149598" name="Shape 13"/>
          <p:cNvSpPr/>
          <p:nvPr/>
        </p:nvSpPr>
        <p:spPr bwMode="auto">
          <a:xfrm>
            <a:off x="5166360" y="1920240"/>
            <a:ext cx="822960" cy="82296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832196079" name="Text 14"/>
          <p:cNvSpPr/>
          <p:nvPr/>
        </p:nvSpPr>
        <p:spPr bwMode="auto">
          <a:xfrm>
            <a:off x="516636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FFFFFF"/>
                </a:solidFill>
              </a:rPr>
              <a:t>✦</a:t>
            </a:r>
            <a:endParaRPr lang="en-US" sz="3000"/>
          </a:p>
        </p:txBody>
      </p:sp>
      <p:sp>
        <p:nvSpPr>
          <p:cNvPr id="1072221817" name="Text 15"/>
          <p:cNvSpPr/>
          <p:nvPr/>
        </p:nvSpPr>
        <p:spPr bwMode="auto">
          <a:xfrm>
            <a:off x="4892039" y="301751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闪 烁</a:t>
            </a:r>
            <a:endParaRPr lang="en-US" sz="1800"/>
          </a:p>
        </p:txBody>
      </p:sp>
      <p:sp>
        <p:nvSpPr>
          <p:cNvPr id="869456257" name="Text 16"/>
          <p:cNvSpPr/>
          <p:nvPr/>
        </p:nvSpPr>
        <p:spPr bwMode="auto">
          <a:xfrm>
            <a:off x="4892039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明暗交替闪烁</a:t>
            </a:r>
            <a:endParaRPr lang="en-US" sz="1100"/>
          </a:p>
        </p:txBody>
      </p:sp>
      <p:sp>
        <p:nvSpPr>
          <p:cNvPr id="308745730" name="Shape 17"/>
          <p:cNvSpPr/>
          <p:nvPr/>
        </p:nvSpPr>
        <p:spPr bwMode="auto">
          <a:xfrm>
            <a:off x="6766560" y="1645920"/>
            <a:ext cx="1645920" cy="2560320"/>
          </a:xfrm>
          <a:prstGeom prst="rect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1245950371" name="Shape 18"/>
          <p:cNvSpPr/>
          <p:nvPr/>
        </p:nvSpPr>
        <p:spPr bwMode="auto">
          <a:xfrm>
            <a:off x="7178039" y="1920240"/>
            <a:ext cx="822960" cy="82296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2007303548" name="Text 19"/>
          <p:cNvSpPr/>
          <p:nvPr/>
        </p:nvSpPr>
        <p:spPr bwMode="auto">
          <a:xfrm>
            <a:off x="7178039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FFFFFF"/>
                </a:solidFill>
              </a:rPr>
              <a:t>≈</a:t>
            </a:r>
            <a:endParaRPr lang="en-US" sz="3000"/>
          </a:p>
        </p:txBody>
      </p:sp>
      <p:sp>
        <p:nvSpPr>
          <p:cNvPr id="1530425122" name="Text 20"/>
          <p:cNvSpPr/>
          <p:nvPr/>
        </p:nvSpPr>
        <p:spPr bwMode="auto">
          <a:xfrm>
            <a:off x="6903720" y="3017519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波 动</a:t>
            </a:r>
            <a:endParaRPr lang="en-US" sz="1800"/>
          </a:p>
        </p:txBody>
      </p:sp>
      <p:sp>
        <p:nvSpPr>
          <p:cNvPr id="1403813110" name="Text 21"/>
          <p:cNvSpPr/>
          <p:nvPr/>
        </p:nvSpPr>
        <p:spPr bwMode="auto">
          <a:xfrm>
            <a:off x="690372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颜色渐变过渡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split orient="vert" dir="out"/>
      </p:transition>
    </mc:Choice>
    <mc:Fallback>
      <p:transition spd="med" advClick="1">
        <p:split orient="vert" dir="out"/>
      </p:transition>
    </mc:Fallback>
  </mc:AlternateContent>
  <p:timing>
    <p:tnLst>
      <p:par>
        <p:cTn id="310" dur="indefinite" restart="never" nodeType="tmRoot">
          <p:childTnLst>
            <p:seq>
              <p:cTn id="311" dur="indefinite" nodeType="mainSeq">
                <p:childTnLst>
                  <p:par>
                    <p:cTn id="310" dur="800" fill="hold">
                      <p:stCondLst>
                        <p:cond delay="100"/>
                      </p:stCondLst>
                    </p:cTn>
                  </p:par>
                  <p:par>
                    <p:cTn id="312" dur="800" fill="hold">
                      <p:stCondLst>
                        <p:cond delay="200"/>
                      </p:stCondLst>
                    </p:cTn>
                  </p:par>
                  <p:par>
                    <p:cTn id="314" dur="800" fill="hold">
                      <p:stCondLst>
                        <p:cond delay="300"/>
                      </p:stCondLst>
                    </p:cTn>
                  </p:par>
                  <p:par>
                    <p:cTn id="316" dur="800" fill="hold">
                      <p:stCondLst>
                        <p:cond delay="400"/>
                      </p:stCondLst>
                    </p:cTn>
                  </p:par>
                  <p:par>
                    <p:cTn id="318" dur="800" fill="hold">
                      <p:stCondLst>
                        <p:cond delay="450"/>
                      </p:stCondLst>
                    </p:cTn>
                  </p:par>
                  <p:par>
                    <p:cTn id="320" dur="800" fill="hold">
                      <p:stCondLst>
                        <p:cond delay="550"/>
                      </p:stCondLst>
                    </p:cTn>
                  </p:par>
                  <p:par>
                    <p:cTn id="322" dur="800" fill="hold">
                      <p:stCondLst>
                        <p:cond delay="650"/>
                      </p:stCondLst>
                    </p:cTn>
                  </p:par>
                  <p:par>
                    <p:cTn id="324" dur="800" fill="hold">
                      <p:stCondLst>
                        <p:cond delay="750"/>
                      </p:stCondLst>
                    </p:cTn>
                  </p:par>
                  <p:par>
                    <p:cTn id="326" dur="800" fill="hold">
                      <p:stCondLst>
                        <p:cond delay="800"/>
                      </p:stCondLst>
                    </p:cTn>
                  </p:par>
                  <p:par>
                    <p:cTn id="328" dur="800" fill="hold">
                      <p:stCondLst>
                        <p:cond delay="900"/>
                      </p:stCondLst>
                    </p:cTn>
                  </p:par>
                  <p:par>
                    <p:cTn id="330" dur="800" fill="hold">
                      <p:stCondLst>
                        <p:cond delay="1000"/>
                      </p:stCondLst>
                    </p:cTn>
                  </p:par>
                  <p:par>
                    <p:cTn id="332" dur="800" fill="hold">
                      <p:stCondLst>
                        <p:cond delay="1100"/>
                      </p:stCondLst>
                    </p:cTn>
                  </p:par>
                  <p:par>
                    <p:cTn id="334" dur="800" fill="hold">
                      <p:stCondLst>
                        <p:cond delay="1150"/>
                      </p:stCondLst>
                    </p:cTn>
                  </p:par>
                  <p:par>
                    <p:cTn id="336" dur="800" fill="hold">
                      <p:stCondLst>
                        <p:cond delay="1250"/>
                      </p:stCondLst>
                    </p:cTn>
                  </p:par>
                  <p:par>
                    <p:cTn id="338" dur="800" fill="hold">
                      <p:stCondLst>
                        <p:cond delay="1350"/>
                      </p:stCondLst>
                    </p:cTn>
                  </p:par>
                  <p:par>
                    <p:cTn id="340" dur="800" fill="hold">
                      <p:stCondLst>
                        <p:cond delay="145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933634" name="Text 0"/>
          <p:cNvSpPr/>
          <p:nvPr/>
        </p:nvSpPr>
        <p:spPr bwMode="auto"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Arial Black"/>
                <a:ea typeface="Arial Black"/>
                <a:cs typeface="Arial Black"/>
              </a:rPr>
              <a:t>组合动画</a:t>
            </a:r>
            <a:endParaRPr lang="en-US" sz="3200"/>
          </a:p>
        </p:txBody>
      </p:sp>
      <p:sp>
        <p:nvSpPr>
          <p:cNvPr id="308924084" name="Text 1"/>
          <p:cNvSpPr/>
          <p:nvPr/>
        </p:nvSpPr>
        <p:spPr bwMode="auto"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多个元素协同配合的动画序列</a:t>
            </a:r>
            <a:endParaRPr lang="en-US" sz="1400"/>
          </a:p>
        </p:txBody>
      </p:sp>
      <p:sp>
        <p:nvSpPr>
          <p:cNvPr id="875102297" name="Shape 2"/>
          <p:cNvSpPr/>
          <p:nvPr/>
        </p:nvSpPr>
        <p:spPr bwMode="auto">
          <a:xfrm>
            <a:off x="1051560" y="16459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45408191" name="Text 3"/>
          <p:cNvSpPr/>
          <p:nvPr/>
        </p:nvSpPr>
        <p:spPr bwMode="auto">
          <a:xfrm>
            <a:off x="10515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</a:t>
            </a:r>
            <a:endParaRPr lang="en-US" sz="2800"/>
          </a:p>
        </p:txBody>
      </p:sp>
      <p:sp>
        <p:nvSpPr>
          <p:cNvPr id="942539688" name="Text 4"/>
          <p:cNvSpPr/>
          <p:nvPr/>
        </p:nvSpPr>
        <p:spPr bwMode="auto">
          <a:xfrm>
            <a:off x="210312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6B7FA3"/>
                </a:solidFill>
              </a:rPr>
              <a:t>→</a:t>
            </a:r>
            <a:endParaRPr lang="en-US" sz="2400"/>
          </a:p>
        </p:txBody>
      </p:sp>
      <p:sp>
        <p:nvSpPr>
          <p:cNvPr id="180580971" name="Text 5"/>
          <p:cNvSpPr/>
          <p:nvPr/>
        </p:nvSpPr>
        <p:spPr bwMode="auto">
          <a:xfrm>
            <a:off x="7315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调研分析</a:t>
            </a:r>
            <a:endParaRPr lang="en-US" sz="1600"/>
          </a:p>
        </p:txBody>
      </p:sp>
      <p:sp>
        <p:nvSpPr>
          <p:cNvPr id="1452702223" name="Text 6"/>
          <p:cNvSpPr/>
          <p:nvPr/>
        </p:nvSpPr>
        <p:spPr bwMode="auto">
          <a:xfrm>
            <a:off x="73152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收集需求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分析数据</a:t>
            </a:r>
            <a:endParaRPr lang="en-US" sz="1000"/>
          </a:p>
        </p:txBody>
      </p:sp>
      <p:sp>
        <p:nvSpPr>
          <p:cNvPr id="362964168" name="Shape 7"/>
          <p:cNvSpPr/>
          <p:nvPr/>
        </p:nvSpPr>
        <p:spPr bwMode="auto">
          <a:xfrm>
            <a:off x="3063240" y="16459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47276986" name="Text 8"/>
          <p:cNvSpPr/>
          <p:nvPr/>
        </p:nvSpPr>
        <p:spPr bwMode="auto">
          <a:xfrm>
            <a:off x="306324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</a:t>
            </a:r>
            <a:endParaRPr lang="en-US" sz="2800"/>
          </a:p>
        </p:txBody>
      </p:sp>
      <p:sp>
        <p:nvSpPr>
          <p:cNvPr id="19587624" name="Text 9"/>
          <p:cNvSpPr/>
          <p:nvPr/>
        </p:nvSpPr>
        <p:spPr bwMode="auto">
          <a:xfrm>
            <a:off x="411480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6B7FA3"/>
                </a:solidFill>
              </a:rPr>
              <a:t>→</a:t>
            </a:r>
            <a:endParaRPr lang="en-US" sz="2400"/>
          </a:p>
        </p:txBody>
      </p:sp>
      <p:sp>
        <p:nvSpPr>
          <p:cNvPr id="45373087" name="Text 10"/>
          <p:cNvSpPr/>
          <p:nvPr/>
        </p:nvSpPr>
        <p:spPr bwMode="auto">
          <a:xfrm>
            <a:off x="27432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方案设计</a:t>
            </a:r>
            <a:endParaRPr lang="en-US" sz="1600"/>
          </a:p>
        </p:txBody>
      </p:sp>
      <p:sp>
        <p:nvSpPr>
          <p:cNvPr id="1221245625" name="Text 11"/>
          <p:cNvSpPr/>
          <p:nvPr/>
        </p:nvSpPr>
        <p:spPr bwMode="auto">
          <a:xfrm>
            <a:off x="274320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架构设计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原型制作</a:t>
            </a:r>
            <a:endParaRPr lang="en-US" sz="1000"/>
          </a:p>
        </p:txBody>
      </p:sp>
      <p:sp>
        <p:nvSpPr>
          <p:cNvPr id="1048780185" name="Shape 12"/>
          <p:cNvSpPr/>
          <p:nvPr/>
        </p:nvSpPr>
        <p:spPr bwMode="auto">
          <a:xfrm>
            <a:off x="5074920" y="16459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5732768" name="Text 13"/>
          <p:cNvSpPr/>
          <p:nvPr/>
        </p:nvSpPr>
        <p:spPr bwMode="auto">
          <a:xfrm>
            <a:off x="507492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3</a:t>
            </a:r>
            <a:endParaRPr lang="en-US" sz="2800"/>
          </a:p>
        </p:txBody>
      </p:sp>
      <p:sp>
        <p:nvSpPr>
          <p:cNvPr id="218350528" name="Text 14"/>
          <p:cNvSpPr/>
          <p:nvPr/>
        </p:nvSpPr>
        <p:spPr bwMode="auto">
          <a:xfrm>
            <a:off x="612648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6B7FA3"/>
                </a:solidFill>
              </a:rPr>
              <a:t>→</a:t>
            </a:r>
            <a:endParaRPr lang="en-US" sz="2400"/>
          </a:p>
        </p:txBody>
      </p:sp>
      <p:sp>
        <p:nvSpPr>
          <p:cNvPr id="1404313666" name="Text 15"/>
          <p:cNvSpPr/>
          <p:nvPr/>
        </p:nvSpPr>
        <p:spPr bwMode="auto">
          <a:xfrm>
            <a:off x="47548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开发实现</a:t>
            </a:r>
            <a:endParaRPr lang="en-US" sz="1600"/>
          </a:p>
        </p:txBody>
      </p:sp>
      <p:sp>
        <p:nvSpPr>
          <p:cNvPr id="1109976439" name="Text 16"/>
          <p:cNvSpPr/>
          <p:nvPr/>
        </p:nvSpPr>
        <p:spPr bwMode="auto">
          <a:xfrm>
            <a:off x="475488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编码实现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单元测试</a:t>
            </a:r>
            <a:endParaRPr lang="en-US" sz="1000"/>
          </a:p>
        </p:txBody>
      </p:sp>
      <p:sp>
        <p:nvSpPr>
          <p:cNvPr id="1597341714" name="Shape 17"/>
          <p:cNvSpPr/>
          <p:nvPr/>
        </p:nvSpPr>
        <p:spPr bwMode="auto">
          <a:xfrm>
            <a:off x="7086600" y="16459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44625875" name="Text 18"/>
          <p:cNvSpPr/>
          <p:nvPr/>
        </p:nvSpPr>
        <p:spPr bwMode="auto">
          <a:xfrm>
            <a:off x="708660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4</a:t>
            </a:r>
            <a:endParaRPr lang="en-US" sz="2800"/>
          </a:p>
        </p:txBody>
      </p:sp>
      <p:sp>
        <p:nvSpPr>
          <p:cNvPr id="1075772987" name="Text 19"/>
          <p:cNvSpPr/>
          <p:nvPr/>
        </p:nvSpPr>
        <p:spPr bwMode="auto">
          <a:xfrm>
            <a:off x="67665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测试部署</a:t>
            </a:r>
            <a:endParaRPr lang="en-US" sz="1600"/>
          </a:p>
        </p:txBody>
      </p:sp>
      <p:sp>
        <p:nvSpPr>
          <p:cNvPr id="230804758" name="Text 20"/>
          <p:cNvSpPr/>
          <p:nvPr/>
        </p:nvSpPr>
        <p:spPr bwMode="auto">
          <a:xfrm>
            <a:off x="676656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集成测试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部署上线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410" dur="indefinite" restart="never" nodeType="tmRoot">
          <p:childTnLst>
            <p:seq>
              <p:cTn id="411" dur="indefinite" nodeType="mainSeq">
                <p:childTnLst>
                  <p:par>
                    <p:cTn id="410" dur="600" fill="hold">
                      <p:stCondLst>
                        <p:cond delay="100"/>
                      </p:stCondLst>
                    </p:cTn>
                  </p:par>
                  <p:par>
                    <p:cTn id="412" dur="600" fill="hold">
                      <p:stCondLst>
                        <p:cond delay="200"/>
                      </p:stCondLst>
                    </p:cTn>
                  </p:par>
                  <p:par>
                    <p:cTn id="414" dur="600" fill="hold">
                      <p:stCondLst>
                        <p:cond delay="300"/>
                      </p:stCondLst>
                    </p:cTn>
                  </p:par>
                  <p:par>
                    <p:cTn id="416" dur="600" fill="hold">
                      <p:stCondLst>
                        <p:cond delay="400"/>
                      </p:stCondLst>
                    </p:cTn>
                  </p:par>
                  <p:par>
                    <p:cTn id="418" dur="600" fill="hold">
                      <p:stCondLst>
                        <p:cond delay="500"/>
                      </p:stCondLst>
                    </p:cTn>
                  </p:par>
                  <p:par>
                    <p:cTn id="420" dur="600" fill="hold">
                      <p:stCondLst>
                        <p:cond delay="600"/>
                      </p:stCondLst>
                    </p:cTn>
                  </p:par>
                  <p:par>
                    <p:cTn id="422" dur="600" fill="hold">
                      <p:stCondLst>
                        <p:cond delay="700"/>
                      </p:stCondLst>
                    </p:cTn>
                  </p:par>
                  <p:par>
                    <p:cTn id="424" dur="600" fill="hold">
                      <p:stCondLst>
                        <p:cond delay="800"/>
                      </p:stCondLst>
                    </p:cTn>
                  </p:par>
                  <p:par>
                    <p:cTn id="426" dur="600" fill="hold">
                      <p:stCondLst>
                        <p:cond delay="900"/>
                      </p:stCondLst>
                    </p:cTn>
                  </p:par>
                  <p:par>
                    <p:cTn id="428" dur="600" fill="hold">
                      <p:stCondLst>
                        <p:cond delay="1000"/>
                      </p:stCondLst>
                    </p:cTn>
                  </p:par>
                  <p:par>
                    <p:cTn id="430" dur="600" fill="hold">
                      <p:stCondLst>
                        <p:cond delay="1100"/>
                      </p:stCondLst>
                    </p:cTn>
                  </p:par>
                  <p:par>
                    <p:cTn id="432" dur="600" fill="hold">
                      <p:stCondLst>
                        <p:cond delay="1200"/>
                      </p:stCondLst>
                    </p:cTn>
                  </p:par>
                  <p:par>
                    <p:cTn id="434" dur="600" fill="hold">
                      <p:stCondLst>
                        <p:cond delay="1300"/>
                      </p:stCondLst>
                    </p:cTn>
                  </p:par>
                  <p:par>
                    <p:cTn id="436" dur="600" fill="hold">
                      <p:stCondLst>
                        <p:cond delay="1400"/>
                      </p:stCondLst>
                    </p:cTn>
                  </p:par>
                  <p:par>
                    <p:cTn id="438" dur="600" fill="hold">
                      <p:stCondLst>
                        <p:cond delay="1500"/>
                      </p:stCondLst>
                    </p:cTn>
                  </p:par>
                  <p:par>
                    <p:cTn id="440" dur="600" fill="hold">
                      <p:stCondLst>
                        <p:cond delay="160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684142" name="Shape 0"/>
          <p:cNvSpPr/>
          <p:nvPr/>
        </p:nvSpPr>
        <p:spPr bwMode="auto">
          <a:xfrm>
            <a:off x="6858000" y="-1371600"/>
            <a:ext cx="3657600" cy="3657600"/>
          </a:xfrm>
          <a:prstGeom prst="ellipse">
            <a:avLst/>
          </a:prstGeom>
          <a:solidFill>
            <a:srgbClr val="2A3B7C">
              <a:alpha val="50000"/>
            </a:srgbClr>
          </a:solidFill>
          <a:ln/>
        </p:spPr>
      </p:sp>
      <p:sp>
        <p:nvSpPr>
          <p:cNvPr id="439769395" name="Text 1"/>
          <p:cNvSpPr/>
          <p:nvPr/>
        </p:nvSpPr>
        <p:spPr bwMode="auto"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数据动画</a:t>
            </a:r>
            <a:endParaRPr lang="en-US" sz="3200"/>
          </a:p>
        </p:txBody>
      </p:sp>
      <p:sp>
        <p:nvSpPr>
          <p:cNvPr id="2016044873" name="Text 2"/>
          <p:cNvSpPr/>
          <p:nvPr/>
        </p:nvSpPr>
        <p:spPr bwMode="auto"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动态数据展示的视觉冲击力</a:t>
            </a:r>
            <a:endParaRPr lang="en-US" sz="1400"/>
          </a:p>
        </p:txBody>
      </p:sp>
      <p:sp>
        <p:nvSpPr>
          <p:cNvPr id="2078803715" name="Shape 3"/>
          <p:cNvSpPr/>
          <p:nvPr/>
        </p:nvSpPr>
        <p:spPr bwMode="auto">
          <a:xfrm>
            <a:off x="731520" y="1645920"/>
            <a:ext cx="1645920" cy="2560320"/>
          </a:xfrm>
          <a:prstGeom prst="rect">
            <a:avLst/>
          </a:prstGeom>
          <a:solidFill>
            <a:srgbClr val="2A3B7C">
              <a:alpha val="40000"/>
            </a:srgbClr>
          </a:solidFill>
          <a:ln/>
        </p:spPr>
      </p:sp>
      <p:sp>
        <p:nvSpPr>
          <p:cNvPr id="41300060" name="Text 4"/>
          <p:cNvSpPr/>
          <p:nvPr/>
        </p:nvSpPr>
        <p:spPr bwMode="auto">
          <a:xfrm>
            <a:off x="73152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800">
                <a:solidFill>
                  <a:srgbClr val="84B59F"/>
                </a:solidFill>
                <a:latin typeface="Arial Black"/>
                <a:ea typeface="Arial Black"/>
                <a:cs typeface="Arial Black"/>
              </a:rPr>
              <a:t>85%</a:t>
            </a:r>
            <a:endParaRPr lang="en-US" sz="3800"/>
          </a:p>
        </p:txBody>
      </p:sp>
      <p:sp>
        <p:nvSpPr>
          <p:cNvPr id="502213378" name="Text 5"/>
          <p:cNvSpPr/>
          <p:nvPr/>
        </p:nvSpPr>
        <p:spPr bwMode="auto">
          <a:xfrm>
            <a:off x="731520" y="301751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用户满意度</a:t>
            </a:r>
            <a:endParaRPr lang="en-US" sz="1400"/>
          </a:p>
        </p:txBody>
      </p:sp>
      <p:sp>
        <p:nvSpPr>
          <p:cNvPr id="1668651350" name="Shape 6"/>
          <p:cNvSpPr/>
          <p:nvPr/>
        </p:nvSpPr>
        <p:spPr bwMode="auto">
          <a:xfrm>
            <a:off x="2743200" y="1645920"/>
            <a:ext cx="1645920" cy="2560320"/>
          </a:xfrm>
          <a:prstGeom prst="rect">
            <a:avLst/>
          </a:prstGeom>
          <a:solidFill>
            <a:srgbClr val="2A3B7C">
              <a:alpha val="40000"/>
            </a:srgbClr>
          </a:solidFill>
          <a:ln/>
        </p:spPr>
      </p:sp>
      <p:sp>
        <p:nvSpPr>
          <p:cNvPr id="1358022910" name="Text 7"/>
          <p:cNvSpPr/>
          <p:nvPr/>
        </p:nvSpPr>
        <p:spPr bwMode="auto">
          <a:xfrm>
            <a:off x="274320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800">
                <a:solidFill>
                  <a:srgbClr val="F9A826"/>
                </a:solidFill>
                <a:latin typeface="Arial Black"/>
                <a:ea typeface="Arial Black"/>
                <a:cs typeface="Arial Black"/>
              </a:rPr>
              <a:t>2.5×</a:t>
            </a:r>
            <a:endParaRPr lang="en-US" sz="3800"/>
          </a:p>
        </p:txBody>
      </p:sp>
      <p:sp>
        <p:nvSpPr>
          <p:cNvPr id="582609362" name="Text 8"/>
          <p:cNvSpPr/>
          <p:nvPr/>
        </p:nvSpPr>
        <p:spPr bwMode="auto">
          <a:xfrm>
            <a:off x="2743200" y="301751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效率提升</a:t>
            </a:r>
            <a:endParaRPr lang="en-US" sz="1400"/>
          </a:p>
        </p:txBody>
      </p:sp>
      <p:sp>
        <p:nvSpPr>
          <p:cNvPr id="632831088" name="Shape 9"/>
          <p:cNvSpPr/>
          <p:nvPr/>
        </p:nvSpPr>
        <p:spPr bwMode="auto">
          <a:xfrm>
            <a:off x="4754880" y="1645920"/>
            <a:ext cx="1645920" cy="2560320"/>
          </a:xfrm>
          <a:prstGeom prst="rect">
            <a:avLst/>
          </a:prstGeom>
          <a:solidFill>
            <a:srgbClr val="2A3B7C">
              <a:alpha val="40000"/>
            </a:srgbClr>
          </a:solidFill>
          <a:ln/>
        </p:spPr>
      </p:sp>
      <p:sp>
        <p:nvSpPr>
          <p:cNvPr id="1894870955" name="Text 10"/>
          <p:cNvSpPr/>
          <p:nvPr/>
        </p:nvSpPr>
        <p:spPr bwMode="auto">
          <a:xfrm>
            <a:off x="475488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800">
                <a:solidFill>
                  <a:srgbClr val="F96167"/>
                </a:solidFill>
                <a:latin typeface="Arial Black"/>
                <a:ea typeface="Arial Black"/>
                <a:cs typeface="Arial Black"/>
              </a:rPr>
              <a:t>12K+</a:t>
            </a:r>
            <a:endParaRPr lang="en-US" sz="3800"/>
          </a:p>
        </p:txBody>
      </p:sp>
      <p:sp>
        <p:nvSpPr>
          <p:cNvPr id="3161954" name="Text 11"/>
          <p:cNvSpPr/>
          <p:nvPr/>
        </p:nvSpPr>
        <p:spPr bwMode="auto">
          <a:xfrm>
            <a:off x="4754880" y="301751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活跃用户</a:t>
            </a:r>
            <a:endParaRPr lang="en-US" sz="1400"/>
          </a:p>
        </p:txBody>
      </p:sp>
      <p:sp>
        <p:nvSpPr>
          <p:cNvPr id="1239641216" name="Shape 12"/>
          <p:cNvSpPr/>
          <p:nvPr/>
        </p:nvSpPr>
        <p:spPr bwMode="auto">
          <a:xfrm>
            <a:off x="6766560" y="1645920"/>
            <a:ext cx="1645920" cy="2560320"/>
          </a:xfrm>
          <a:prstGeom prst="rect">
            <a:avLst/>
          </a:prstGeom>
          <a:solidFill>
            <a:srgbClr val="2A3B7C">
              <a:alpha val="40000"/>
            </a:srgbClr>
          </a:solidFill>
          <a:ln/>
        </p:spPr>
      </p:sp>
      <p:sp>
        <p:nvSpPr>
          <p:cNvPr id="545586368" name="Text 13"/>
          <p:cNvSpPr/>
          <p:nvPr/>
        </p:nvSpPr>
        <p:spPr bwMode="auto">
          <a:xfrm>
            <a:off x="676656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800">
                <a:solidFill>
                  <a:srgbClr val="1C7293"/>
                </a:solidFill>
                <a:latin typeface="Arial Black"/>
                <a:ea typeface="Arial Black"/>
                <a:cs typeface="Arial Black"/>
              </a:rPr>
              <a:t>99.9%</a:t>
            </a:r>
            <a:endParaRPr lang="en-US" sz="3800"/>
          </a:p>
        </p:txBody>
      </p:sp>
      <p:sp>
        <p:nvSpPr>
          <p:cNvPr id="578505909" name="Text 14"/>
          <p:cNvSpPr/>
          <p:nvPr/>
        </p:nvSpPr>
        <p:spPr bwMode="auto">
          <a:xfrm>
            <a:off x="6766560" y="301751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系统可用性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cover dir="l"/>
      </p:transition>
    </mc:Choice>
    <mc:Fallback>
      <p:transition spd="slow" advClick="1">
        <p:cover dir="l"/>
      </p:transition>
    </mc:Fallback>
  </mc:AlternateContent>
  <p:timing>
    <p:tnLst>
      <p:par>
        <p:cTn id="510" dur="indefinite" restart="never" nodeType="tmRoot">
          <p:childTnLst>
            <p:seq>
              <p:cTn id="511" dur="indefinite" nodeType="mainSeq">
                <p:childTnLst>
                  <p:par>
                    <p:cTn id="510" dur="900" fill="hold">
                      <p:stCondLst>
                        <p:cond delay="100"/>
                      </p:stCondLst>
                    </p:cTn>
                  </p:par>
                  <p:par>
                    <p:cTn id="512" dur="900" fill="hold">
                      <p:stCondLst>
                        <p:cond delay="250"/>
                      </p:stCondLst>
                    </p:cTn>
                  </p:par>
                  <p:par>
                    <p:cTn id="514" dur="900" fill="hold">
                      <p:stCondLst>
                        <p:cond delay="400"/>
                      </p:stCondLst>
                    </p:cTn>
                  </p:par>
                  <p:par>
                    <p:cTn id="516" dur="900" fill="hold">
                      <p:stCondLst>
                        <p:cond delay="550"/>
                      </p:stCondLst>
                    </p:cTn>
                  </p:par>
                  <p:par>
                    <p:cTn id="518" dur="900" fill="hold">
                      <p:stCondLst>
                        <p:cond delay="600"/>
                      </p:stCondLst>
                    </p:cTn>
                  </p:par>
                  <p:par>
                    <p:cTn id="520" dur="900" fill="hold">
                      <p:stCondLst>
                        <p:cond delay="750"/>
                      </p:stCondLst>
                    </p:cTn>
                  </p:par>
                  <p:par>
                    <p:cTn id="522" dur="900" fill="hold">
                      <p:stCondLst>
                        <p:cond delay="900"/>
                      </p:stCondLst>
                    </p:cTn>
                  </p:par>
                  <p:par>
                    <p:cTn id="524" dur="900" fill="hold">
                      <p:stCondLst>
                        <p:cond delay="1050"/>
                      </p:stCondLst>
                    </p:cTn>
                  </p:par>
                  <p:par>
                    <p:cTn id="526" dur="900" fill="hold">
                      <p:stCondLst>
                        <p:cond delay="1100"/>
                      </p:stCondLst>
                    </p:cTn>
                  </p:par>
                  <p:par>
                    <p:cTn id="528" dur="900" fill="hold">
                      <p:stCondLst>
                        <p:cond delay="1250"/>
                      </p:stCondLst>
                    </p:cTn>
                  </p:par>
                  <p:par>
                    <p:cTn id="530" dur="900" fill="hold">
                      <p:stCondLst>
                        <p:cond delay="1400"/>
                      </p:stCondLst>
                    </p:cTn>
                  </p:par>
                  <p:par>
                    <p:cTn id="532" dur="900" fill="hold">
                      <p:stCondLst>
                        <p:cond delay="155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121319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27636028" name="Text 1"/>
          <p:cNvSpPr/>
          <p:nvPr/>
        </p:nvSpPr>
        <p:spPr bwMode="auto"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Arial Black"/>
                <a:ea typeface="Arial Black"/>
                <a:cs typeface="Arial Black"/>
              </a:rPr>
              <a:t>图表动画</a:t>
            </a:r>
            <a:endParaRPr lang="en-US" sz="3200"/>
          </a:p>
        </p:txBody>
      </p:sp>
      <p:sp>
        <p:nvSpPr>
          <p:cNvPr id="1638895479" name="Text 2"/>
          <p:cNvSpPr/>
          <p:nvPr/>
        </p:nvSpPr>
        <p:spPr bwMode="auto"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数据图表也可以动起来</a:t>
            </a:r>
            <a:endParaRPr lang="en-US" sz="1400"/>
          </a:p>
        </p:txBody>
      </p:sp>
      <p:graphicFrame>
        <p:nvGraphicFramePr>
          <p:cNvPr id="681946483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46304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69531238" name="Shape 3"/>
          <p:cNvSpPr/>
          <p:nvPr/>
        </p:nvSpPr>
        <p:spPr bwMode="auto">
          <a:xfrm>
            <a:off x="5669280" y="1463040"/>
            <a:ext cx="3017519" cy="146304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128349696" name="Text 4"/>
          <p:cNvSpPr/>
          <p:nvPr/>
        </p:nvSpPr>
        <p:spPr bwMode="auto">
          <a:xfrm>
            <a:off x="5852160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84B59F"/>
                </a:solidFill>
                <a:latin typeface="Arial Black"/>
                <a:ea typeface="Arial Black"/>
                <a:cs typeface="Arial Black"/>
              </a:rPr>
              <a:t>+125%</a:t>
            </a:r>
            <a:endParaRPr lang="en-US" sz="3000"/>
          </a:p>
        </p:txBody>
      </p:sp>
      <p:sp>
        <p:nvSpPr>
          <p:cNvPr id="1216953417" name="Text 5"/>
          <p:cNvSpPr/>
          <p:nvPr/>
        </p:nvSpPr>
        <p:spPr bwMode="auto">
          <a:xfrm>
            <a:off x="585216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同比增长</a:t>
            </a:r>
            <a:endParaRPr lang="en-US" sz="1300"/>
          </a:p>
        </p:txBody>
      </p:sp>
      <p:sp>
        <p:nvSpPr>
          <p:cNvPr id="46604947" name="Shape 6"/>
          <p:cNvSpPr/>
          <p:nvPr/>
        </p:nvSpPr>
        <p:spPr bwMode="auto">
          <a:xfrm>
            <a:off x="5669280" y="3291840"/>
            <a:ext cx="3017519" cy="1463040"/>
          </a:xfrm>
          <a:prstGeom prst="rect">
            <a:avLst/>
          </a:prstGeom>
          <a:solidFill>
            <a:srgbClr val="F5F7FA"/>
          </a:solidFill>
          <a:ln/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13881356" name="Text 7"/>
          <p:cNvSpPr/>
          <p:nvPr/>
        </p:nvSpPr>
        <p:spPr bwMode="auto">
          <a:xfrm>
            <a:off x="585216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C7293"/>
                </a:solidFill>
                <a:latin typeface="Arial Black"/>
                <a:ea typeface="Arial Black"/>
                <a:cs typeface="Arial Black"/>
              </a:rPr>
              <a:t>¥2.08M</a:t>
            </a:r>
            <a:endParaRPr lang="en-US" sz="3000"/>
          </a:p>
        </p:txBody>
      </p:sp>
      <p:sp>
        <p:nvSpPr>
          <p:cNvPr id="1329652875" name="Text 8"/>
          <p:cNvSpPr/>
          <p:nvPr/>
        </p:nvSpPr>
        <p:spPr bwMode="auto">
          <a:xfrm>
            <a:off x="585216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总营收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610" dur="indefinite" restart="never" nodeType="tmRoot">
          <p:childTnLst>
            <p:seq>
              <p:cTn id="611" dur="indefinite" nodeType="mainSeq">
                <p:childTnLst>
                  <p:par>
                    <p:cTn id="610" dur="800" fill="hold">
                      <p:stCondLst>
                        <p:cond delay="100"/>
                      </p:stCondLst>
                    </p:cTn>
                  </p:par>
                  <p:par>
                    <p:cTn id="612" dur="800" fill="hold">
                      <p:stCondLst>
                        <p:cond delay="300"/>
                      </p:stCondLst>
                    </p:cTn>
                  </p:par>
                  <p:par>
                    <p:cTn id="614" dur="800" fill="hold">
                      <p:stCondLst>
                        <p:cond delay="500"/>
                      </p:stCondLst>
                    </p:cTn>
                  </p:par>
                  <p:par>
                    <p:cTn id="616" dur="800" fill="hold">
                      <p:stCondLst>
                        <p:cond delay="700"/>
                      </p:stCondLst>
                    </p:cTn>
                  </p:par>
                  <p:par>
                    <p:cTn id="618" dur="800" fill="hold">
                      <p:stCondLst>
                        <p:cond delay="900"/>
                      </p:stCondLst>
                    </p:cTn>
                  </p:par>
                  <p:par>
                    <p:cTn id="620" dur="800" fill="hold">
                      <p:stCondLst>
                        <p:cond delay="1100"/>
                      </p:stCondLst>
                    </p:cTn>
                  </p:par>
                  <p:par>
                    <p:cTn id="622" dur="800" fill="hold">
                      <p:stCondLst>
                        <p:cond delay="1300"/>
                      </p:stCondLst>
                    </p:cTn>
                  </p:par>
                  <p:par>
                    <p:cTn id="624" dur="800" fill="hold">
                      <p:stCondLst>
                        <p:cond delay="150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61B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727019" name="Shape 0"/>
          <p:cNvSpPr/>
          <p:nvPr/>
        </p:nvSpPr>
        <p:spPr bwMode="auto">
          <a:xfrm>
            <a:off x="6400800" y="0"/>
            <a:ext cx="3200400" cy="32004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226246773" name="Shape 1"/>
          <p:cNvSpPr/>
          <p:nvPr/>
        </p:nvSpPr>
        <p:spPr bwMode="auto">
          <a:xfrm>
            <a:off x="-914400" y="2743200"/>
            <a:ext cx="2286000" cy="2286000"/>
          </a:xfrm>
          <a:prstGeom prst="ellipse">
            <a:avLst/>
          </a:prstGeom>
          <a:solidFill>
            <a:srgbClr val="2A3B7C">
              <a:alpha val="50000"/>
            </a:srgbClr>
          </a:solidFill>
          <a:ln/>
        </p:spPr>
      </p:sp>
      <p:sp>
        <p:nvSpPr>
          <p:cNvPr id="1481303405" name="Text 2"/>
          <p:cNvSpPr/>
          <p:nvPr/>
        </p:nvSpPr>
        <p:spPr bwMode="auto"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感谢观看</a:t>
            </a:r>
            <a:endParaRPr lang="en-US" sz="4800"/>
          </a:p>
        </p:txBody>
      </p:sp>
      <p:sp>
        <p:nvSpPr>
          <p:cNvPr id="1998323725" name="Shape 3"/>
          <p:cNvSpPr/>
          <p:nvPr/>
        </p:nvSpPr>
        <p:spPr bwMode="auto">
          <a:xfrm>
            <a:off x="3474720" y="2651760"/>
            <a:ext cx="2194560" cy="27432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1426589782" name="Text 4"/>
          <p:cNvSpPr/>
          <p:nvPr/>
        </p:nvSpPr>
        <p:spPr bwMode="auto"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用动画让演示更生动</a:t>
            </a:r>
            <a:endParaRPr lang="en-US" sz="1800"/>
          </a:p>
        </p:txBody>
      </p:sp>
      <p:sp>
        <p:nvSpPr>
          <p:cNvPr id="1577829765" name="Text 5"/>
          <p:cNvSpPr/>
          <p:nvPr/>
        </p:nvSpPr>
        <p:spPr bwMode="auto"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B7FA3"/>
                </a:solidFill>
                <a:latin typeface="Calibri"/>
                <a:ea typeface="Calibri"/>
                <a:cs typeface="Calibri"/>
              </a:rPr>
              <a:t>Nexolyra © 2026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710" dur="indefinite" restart="never" nodeType="tmRoot">
          <p:childTnLst>
            <p:seq>
              <p:cTn id="711" dur="indefinite" nodeType="mainSeq">
                <p:childTnLst>
                  <p:par>
                    <p:cTn id="710" dur="1000" fill="hold">
                      <p:stCondLst>
                        <p:cond delay="200"/>
                      </p:stCondLst>
                    </p:cTn>
                  </p:par>
                  <p:par>
                    <p:cTn id="711" dur="1000" fill="hold">
                      <p:stCondLst>
                        <p:cond delay="450"/>
                      </p:stCondLst>
                    </p:cTn>
                  </p:par>
                  <p:par>
                    <p:cTn id="712" dur="1000" fill="hold">
                      <p:stCondLst>
                        <p:cond delay="700"/>
                      </p:stCondLst>
                    </p:cTn>
                  </p:par>
                  <p:par>
                    <p:cTn id="713" dur="1000" fill="hold">
                      <p:stCondLst>
                        <p:cond delay="950"/>
                      </p:stCondLst>
                    </p:cTn>
                  </p:par>
                </p:childTnLst>
              </p:cTn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ONLYOFFICE/2.5.565.0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动画演示大全</dc:title>
  <dc:subject>PptxGenJS Presentation</dc:subject>
  <dc:creator>Nexolyra</dc:creator>
  <cp:lastModifiedBy>Local Browser User</cp:lastModifiedBy>
  <cp:revision>2</cp:revision>
  <dcterms:created xsi:type="dcterms:W3CDTF">2026-07-22T11:23:45Z</dcterms:created>
  <dcterms:modified xsi:type="dcterms:W3CDTF">2026-07-22T11:39:44Z</dcterms:modified>
</cp:coreProperties>
</file>